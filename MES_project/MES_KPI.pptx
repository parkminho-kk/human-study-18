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SB AggroOTF Medium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398000" y="1358900"/>
            <a:ext cx="7112000" cy="75692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108700" y="3238500"/>
            <a:ext cx="9347200" cy="38227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409700" y="3340100"/>
            <a:ext cx="10858500" cy="3136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9500" b="false" i="false" u="none" strike="noStrike">
                <a:solidFill>
                  <a:srgbClr val="FFFFFF"/>
                </a:solidFill>
                <a:latin typeface="KOHINanumOTF Bold"/>
              </a:rPr>
              <a:t>KPI </a:t>
            </a:r>
            <a:r>
              <a:rPr lang="ko-KR" sz="9500" b="false" i="false" u="none" strike="noStrike">
                <a:solidFill>
                  <a:srgbClr val="FFFFFF"/>
                </a:solidFill>
                <a:ea typeface="KOHINanumOTF Bold"/>
              </a:rPr>
              <a:t>기능을</a:t>
            </a:r>
            <a:r>
              <a:rPr lang="en-US" sz="95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9500" b="false" i="false" u="none" strike="noStrike">
                <a:solidFill>
                  <a:srgbClr val="FFFFFF"/>
                </a:solidFill>
                <a:ea typeface="KOHINanumOTF Bold"/>
              </a:rPr>
              <a:t>강화한</a:t>
            </a:r>
            <a:r>
              <a:rPr lang="en-US" sz="9500" b="false" i="false" u="none" strike="noStrike">
                <a:solidFill>
                  <a:srgbClr val="FFFFFF"/>
                </a:solidFill>
                <a:latin typeface="KOHINanumOTF Bold"/>
              </a:rPr>
              <a:t> MES </a:t>
            </a:r>
            <a:r>
              <a:rPr lang="ko-KR" sz="9500" b="false" i="false" u="none" strike="noStrike">
                <a:solidFill>
                  <a:srgbClr val="FFFFFF"/>
                </a:solidFill>
                <a:ea typeface="KOHINanumOTF Bold"/>
              </a:rPr>
              <a:t>웹</a:t>
            </a:r>
            <a:r>
              <a:rPr lang="en-US" sz="95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9500" b="false" i="false" u="none" strike="noStrike">
                <a:solidFill>
                  <a:srgbClr val="FFFFFF"/>
                </a:solidFill>
                <a:ea typeface="KOHINanumOTF Bold"/>
              </a:rPr>
              <a:t>프로그래밍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9700" y="2603500"/>
            <a:ext cx="9664700" cy="4699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600" b="false" i="false" u="none" strike="noStrike" spc="100">
                <a:solidFill>
                  <a:srgbClr val="7199ED"/>
                </a:solidFill>
                <a:ea typeface="KOHINanumOTF Light"/>
              </a:rPr>
              <a:t>제조</a:t>
            </a:r>
            <a:r>
              <a:rPr lang="en-US" sz="2600" b="false" i="false" u="none" strike="noStrike" spc="100">
                <a:solidFill>
                  <a:srgbClr val="7199ED"/>
                </a:solidFill>
                <a:latin typeface="KOHINanumOTF Light"/>
              </a:rPr>
              <a:t> </a:t>
            </a:r>
            <a:r>
              <a:rPr lang="ko-KR" sz="2600" b="false" i="false" u="none" strike="noStrike" spc="100">
                <a:solidFill>
                  <a:srgbClr val="7199ED"/>
                </a:solidFill>
                <a:ea typeface="KOHINanumOTF Light"/>
              </a:rPr>
              <a:t>현장의</a:t>
            </a:r>
            <a:r>
              <a:rPr lang="en-US" sz="2600" b="false" i="false" u="none" strike="noStrike" spc="100">
                <a:solidFill>
                  <a:srgbClr val="7199ED"/>
                </a:solidFill>
                <a:latin typeface="KOHINanumOTF Light"/>
              </a:rPr>
              <a:t> </a:t>
            </a:r>
            <a:r>
              <a:rPr lang="ko-KR" sz="2600" b="false" i="false" u="none" strike="noStrike" spc="100">
                <a:solidFill>
                  <a:srgbClr val="7199ED"/>
                </a:solidFill>
                <a:ea typeface="KOHINanumOTF Light"/>
              </a:rPr>
              <a:t>디지털</a:t>
            </a:r>
            <a:r>
              <a:rPr lang="en-US" sz="2600" b="false" i="false" u="none" strike="noStrike" spc="100">
                <a:solidFill>
                  <a:srgbClr val="7199ED"/>
                </a:solidFill>
                <a:latin typeface="KOHINanumOTF Light"/>
              </a:rPr>
              <a:t> </a:t>
            </a:r>
            <a:r>
              <a:rPr lang="ko-KR" sz="2600" b="false" i="false" u="none" strike="noStrike" spc="100">
                <a:solidFill>
                  <a:srgbClr val="7199ED"/>
                </a:solidFill>
                <a:ea typeface="KOHINanumOTF Light"/>
              </a:rPr>
              <a:t>혁신을</a:t>
            </a:r>
            <a:r>
              <a:rPr lang="en-US" sz="2600" b="false" i="false" u="none" strike="noStrike" spc="100">
                <a:solidFill>
                  <a:srgbClr val="7199ED"/>
                </a:solidFill>
                <a:latin typeface="KOHINanumOTF Light"/>
              </a:rPr>
              <a:t> </a:t>
            </a:r>
            <a:r>
              <a:rPr lang="ko-KR" sz="2600" b="false" i="false" u="none" strike="noStrike" spc="100">
                <a:solidFill>
                  <a:srgbClr val="7199ED"/>
                </a:solidFill>
                <a:ea typeface="KOHINanumOTF Light"/>
              </a:rPr>
              <a:t>위한</a:t>
            </a:r>
            <a:r>
              <a:rPr lang="en-US" sz="2600" b="false" i="false" u="none" strike="noStrike" spc="100">
                <a:solidFill>
                  <a:srgbClr val="7199ED"/>
                </a:solidFill>
                <a:latin typeface="KOHINanumOTF Light"/>
              </a:rPr>
              <a:t> </a:t>
            </a:r>
            <a:r>
              <a:rPr lang="ko-KR" sz="2600" b="false" i="false" u="none" strike="noStrike" spc="100">
                <a:solidFill>
                  <a:srgbClr val="7199ED"/>
                </a:solidFill>
                <a:ea typeface="KOHINanumOTF Light"/>
              </a:rPr>
              <a:t>실시간</a:t>
            </a:r>
            <a:r>
              <a:rPr lang="en-US" sz="2600" b="false" i="false" u="none" strike="noStrike" spc="100">
                <a:solidFill>
                  <a:srgbClr val="7199ED"/>
                </a:solidFill>
                <a:latin typeface="KOHINanumOTF Light"/>
              </a:rPr>
              <a:t> </a:t>
            </a:r>
            <a:r>
              <a:rPr lang="ko-KR" sz="2600" b="false" i="false" u="none" strike="noStrike" spc="100">
                <a:solidFill>
                  <a:srgbClr val="7199ED"/>
                </a:solidFill>
                <a:ea typeface="KOHINanumOTF Light"/>
              </a:rPr>
              <a:t>성과</a:t>
            </a:r>
            <a:r>
              <a:rPr lang="en-US" sz="2600" b="false" i="false" u="none" strike="noStrike" spc="100">
                <a:solidFill>
                  <a:srgbClr val="7199ED"/>
                </a:solidFill>
                <a:latin typeface="KOHINanumOTF Light"/>
              </a:rPr>
              <a:t> </a:t>
            </a:r>
            <a:r>
              <a:rPr lang="ko-KR" sz="2600" b="false" i="false" u="none" strike="noStrike" spc="100">
                <a:solidFill>
                  <a:srgbClr val="7199ED"/>
                </a:solidFill>
                <a:ea typeface="KOHINanumOTF Light"/>
              </a:rPr>
              <a:t>관리</a:t>
            </a:r>
            <a:r>
              <a:rPr lang="en-US" sz="2600" b="false" i="false" u="none" strike="noStrike" spc="100">
                <a:solidFill>
                  <a:srgbClr val="7199ED"/>
                </a:solidFill>
                <a:latin typeface="KOHINanumOTF Light"/>
              </a:rPr>
              <a:t> </a:t>
            </a:r>
            <a:r>
              <a:rPr lang="ko-KR" sz="2600" b="false" i="false" u="none" strike="noStrike" spc="100">
                <a:solidFill>
                  <a:srgbClr val="7199ED"/>
                </a:solidFill>
                <a:ea typeface="KOHINanumOTF Light"/>
              </a:rPr>
              <a:t>시스템</a:t>
            </a:r>
          </a:p>
        </p:txBody>
      </p:sp>
      <p:sp>
        <p:nvSpPr>
          <p:cNvPr name="TextBox 7" id="7"/>
          <p:cNvSpPr txBox="true"/>
          <p:nvPr/>
        </p:nvSpPr>
        <p:spPr>
          <a:xfrm rot="5400000">
            <a:off x="14668500" y="5029200"/>
            <a:ext cx="5803900" cy="22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300" b="false" i="false" u="none" strike="noStrike" spc="300">
                <a:solidFill>
                  <a:srgbClr val="C2C2C2"/>
                </a:solidFill>
                <a:latin typeface="SB AggroOTF Medium"/>
              </a:rPr>
              <a:t>MIRI COMPANY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054100" y="723900"/>
            <a:ext cx="16357600" cy="1244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7000" b="false" i="false" u="none" strike="noStrike">
                <a:solidFill>
                  <a:srgbClr val="8675E8"/>
                </a:solidFill>
                <a:ea typeface="KOHINanumOTF Bold"/>
              </a:rPr>
              <a:t>목차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4100" y="2667000"/>
            <a:ext cx="15367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300" b="true" i="false" u="none" strike="noStrike">
                <a:solidFill>
                  <a:srgbClr val="CBC2FF"/>
                </a:solidFill>
                <a:latin typeface="KOHINanumOTF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4100" y="3378200"/>
            <a:ext cx="5105400" cy="406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MES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시스템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개요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4100" y="4064000"/>
            <a:ext cx="51054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제조실행시스템의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정의</a:t>
            </a:r>
          </a:p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주요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기능과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구성</a:t>
            </a:r>
          </a:p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현장에서의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중요성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16700" y="2667000"/>
            <a:ext cx="15367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300" b="true" i="false" u="none" strike="noStrike">
                <a:solidFill>
                  <a:srgbClr val="CBC2FF"/>
                </a:solidFill>
                <a:latin typeface="KOHINanumOTF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16700" y="3378200"/>
            <a:ext cx="5105400" cy="406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KPI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의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이해와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중요성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16700" y="4051300"/>
            <a:ext cx="51054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핵심성과지표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개념</a:t>
            </a:r>
          </a:p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제조업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주요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KPI</a:t>
            </a:r>
          </a:p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실시간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추적의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장점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79300" y="2667000"/>
            <a:ext cx="15367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300" b="true" i="false" u="none" strike="noStrike">
                <a:solidFill>
                  <a:srgbClr val="CBC2FF"/>
                </a:solidFill>
                <a:latin typeface="KOHINanumOTF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79300" y="3378200"/>
            <a:ext cx="5105400" cy="406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KPI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기능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강화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전략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79300" y="4064000"/>
            <a:ext cx="51054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실시간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데이터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분석</a:t>
            </a:r>
          </a:p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대시보드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시각화</a:t>
            </a:r>
          </a:p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맞춤형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설정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기능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4100" y="6362700"/>
            <a:ext cx="15367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300" b="true" i="false" u="none" strike="noStrike">
                <a:solidFill>
                  <a:srgbClr val="CBC2FF"/>
                </a:solidFill>
                <a:latin typeface="KOHINanumOTF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4100" y="7073900"/>
            <a:ext cx="5105400" cy="406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웹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프로그래밍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기술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적용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4100" y="7759700"/>
            <a:ext cx="51054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웹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기반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MES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장점</a:t>
            </a:r>
          </a:p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기술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스택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선정</a:t>
            </a:r>
          </a:p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아키텍처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설계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16700" y="6362700"/>
            <a:ext cx="15367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300" b="true" i="false" u="none" strike="noStrike">
                <a:solidFill>
                  <a:srgbClr val="CBC2FF"/>
                </a:solidFill>
                <a:latin typeface="KOHINanumOTF Bold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16700" y="7073900"/>
            <a:ext cx="5105400" cy="406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구현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사례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및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기대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효과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16700" y="7759700"/>
            <a:ext cx="5105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생산성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향상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효과</a:t>
            </a:r>
          </a:p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의사결정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지원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179300" y="6362700"/>
            <a:ext cx="15367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300" b="true" i="false" u="none" strike="noStrike">
                <a:solidFill>
                  <a:srgbClr val="CBC2FF"/>
                </a:solidFill>
                <a:latin typeface="KOHINanumOTF Bold"/>
              </a:rPr>
              <a:t>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79300" y="7073900"/>
            <a:ext cx="5105400" cy="406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결론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및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향후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Bold"/>
              </a:rPr>
              <a:t>방향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179300" y="7759700"/>
            <a:ext cx="51054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핵심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내용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요약</a:t>
            </a:r>
          </a:p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발전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가능성</a:t>
            </a:r>
          </a:p>
          <a:p>
            <a:pPr algn="l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디지털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전환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역할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2247900"/>
            <a:ext cx="4572000" cy="3441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572000" y="2247900"/>
            <a:ext cx="4572000" cy="3441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144000" y="2247900"/>
            <a:ext cx="4572000" cy="344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716000" y="2247900"/>
            <a:ext cx="4572000" cy="34417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723900" y="723900"/>
            <a:ext cx="168783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MES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시스템</a:t>
            </a: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개요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8300" y="6413500"/>
            <a:ext cx="3822700" cy="4826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700" b="true" i="false" u="none" strike="noStrike">
                <a:solidFill>
                  <a:srgbClr val="CBC2FF"/>
                </a:solidFill>
                <a:latin typeface="KOHINanumOTF Bold"/>
              </a:rPr>
              <a:t>MES</a:t>
            </a:r>
            <a:r>
              <a:rPr lang="ko-KR" sz="2700" b="true" i="false" u="none" strike="noStrike">
                <a:solidFill>
                  <a:srgbClr val="CBC2FF"/>
                </a:solidFill>
                <a:ea typeface="KOHINanumOTF Bold"/>
              </a:rPr>
              <a:t>의</a:t>
            </a:r>
            <a:r>
              <a:rPr lang="en-US" sz="2700" b="tru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700" b="true" i="false" u="none" strike="noStrike">
                <a:solidFill>
                  <a:srgbClr val="CBC2FF"/>
                </a:solidFill>
                <a:ea typeface="KOHINanumOTF Bold"/>
              </a:rPr>
              <a:t>정의와</a:t>
            </a:r>
            <a:r>
              <a:rPr lang="en-US" sz="2700" b="tru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700" b="true" i="false" u="none" strike="noStrike">
                <a:solidFill>
                  <a:srgbClr val="CBC2FF"/>
                </a:solidFill>
                <a:ea typeface="KOHINanumOTF Bold"/>
              </a:rPr>
              <a:t>역할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6400" y="7099300"/>
            <a:ext cx="3759200" cy="2603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제조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현장의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생산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활동을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실시간으로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관리하고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최적화하는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시스템입니다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.</a:t>
            </a:r>
          </a:p>
          <a:p>
            <a:pPr algn="ct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/>
            </a:r>
          </a:p>
          <a:p>
            <a:pPr algn="ct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생산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계획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실행</a:t>
            </a:r>
          </a:p>
          <a:p>
            <a:pPr algn="ct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공정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모니터링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40300" y="6413500"/>
            <a:ext cx="3822700" cy="4826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700" b="true" i="false" u="none" strike="noStrike">
                <a:solidFill>
                  <a:srgbClr val="CBC2FF"/>
                </a:solidFill>
                <a:ea typeface="KOHINanumOTF Bold"/>
              </a:rPr>
              <a:t>주요</a:t>
            </a:r>
            <a:r>
              <a:rPr lang="en-US" sz="2700" b="tru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700" b="true" i="false" u="none" strike="noStrike">
                <a:solidFill>
                  <a:srgbClr val="CBC2FF"/>
                </a:solidFill>
                <a:ea typeface="KOHINanumOTF Bold"/>
              </a:rPr>
              <a:t>기능</a:t>
            </a:r>
            <a:r>
              <a:rPr lang="en-US" sz="2700" b="tru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700" b="true" i="false" u="none" strike="noStrike">
                <a:solidFill>
                  <a:srgbClr val="CBC2FF"/>
                </a:solidFill>
                <a:ea typeface="KOHINanumOTF Bold"/>
              </a:rPr>
              <a:t>및</a:t>
            </a:r>
            <a:r>
              <a:rPr lang="en-US" sz="2700" b="tru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700" b="true" i="false" u="none" strike="noStrike">
                <a:solidFill>
                  <a:srgbClr val="CBC2FF"/>
                </a:solidFill>
                <a:ea typeface="KOHINanumOTF Bold"/>
              </a:rPr>
              <a:t>구성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78400" y="7099300"/>
            <a:ext cx="3759200" cy="215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작업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일정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관리</a:t>
            </a:r>
          </a:p>
          <a:p>
            <a:pPr algn="ct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품질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관리</a:t>
            </a:r>
          </a:p>
          <a:p>
            <a:pPr algn="ct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자재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추적</a:t>
            </a:r>
          </a:p>
          <a:p>
            <a:pPr algn="ct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설비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관리</a:t>
            </a:r>
          </a:p>
          <a:p>
            <a:pPr algn="ct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데이터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수집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12300" y="6413500"/>
            <a:ext cx="3822700" cy="4826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700" b="true" i="false" u="none" strike="noStrike">
                <a:solidFill>
                  <a:srgbClr val="CBC2FF"/>
                </a:solidFill>
                <a:ea typeface="KOHINanumOTF Bold"/>
              </a:rPr>
              <a:t>제조</a:t>
            </a:r>
            <a:r>
              <a:rPr lang="en-US" sz="2700" b="tru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700" b="true" i="false" u="none" strike="noStrike">
                <a:solidFill>
                  <a:srgbClr val="CBC2FF"/>
                </a:solidFill>
                <a:ea typeface="KOHINanumOTF Bold"/>
              </a:rPr>
              <a:t>현장의</a:t>
            </a:r>
            <a:r>
              <a:rPr lang="en-US" sz="2700" b="tru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700" b="true" i="false" u="none" strike="noStrike">
                <a:solidFill>
                  <a:srgbClr val="CBC2FF"/>
                </a:solidFill>
                <a:ea typeface="KOHINanumOTF Bold"/>
              </a:rPr>
              <a:t>중요성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0400" y="7099300"/>
            <a:ext cx="3759200" cy="215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생산성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향상과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품질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개선을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통해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경쟁력을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확보합니다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.</a:t>
            </a:r>
          </a:p>
          <a:p>
            <a:pPr algn="ct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/>
            </a:r>
          </a:p>
          <a:p>
            <a:pPr algn="ct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실시간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가시성</a:t>
            </a:r>
          </a:p>
          <a:p>
            <a:pPr algn="ct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신속한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대응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84300" y="6413500"/>
            <a:ext cx="3822700" cy="4826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700" b="true" i="false" u="none" strike="noStrike">
                <a:solidFill>
                  <a:srgbClr val="CBC2FF"/>
                </a:solidFill>
                <a:ea typeface="KOHINanumOTF Bold"/>
              </a:rPr>
              <a:t>기존</a:t>
            </a:r>
            <a:r>
              <a:rPr lang="en-US" sz="2700" b="tru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700" b="true" i="false" u="none" strike="noStrike">
                <a:solidFill>
                  <a:srgbClr val="CBC2FF"/>
                </a:solidFill>
                <a:ea typeface="KOHINanumOTF Bold"/>
              </a:rPr>
              <a:t>시스템의</a:t>
            </a:r>
            <a:r>
              <a:rPr lang="en-US" sz="2700" b="tru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700" b="true" i="false" u="none" strike="noStrike">
                <a:solidFill>
                  <a:srgbClr val="CBC2FF"/>
                </a:solidFill>
                <a:ea typeface="KOHINanumOTF Bold"/>
              </a:rPr>
              <a:t>한계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122400" y="7099300"/>
            <a:ext cx="3759200" cy="172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제한적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접근성</a:t>
            </a:r>
          </a:p>
          <a:p>
            <a:pPr algn="ct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복잡한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인터페이스</a:t>
            </a:r>
          </a:p>
          <a:p>
            <a:pPr algn="ct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느린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데이터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처리</a:t>
            </a:r>
          </a:p>
          <a:p>
            <a:pPr algn="ctr" lvl="0">
              <a:lnSpc>
                <a:spcPct val="124499"/>
              </a:lnSpc>
            </a:pP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낮은</a:t>
            </a:r>
            <a:r>
              <a:rPr lang="en-US" sz="23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300" b="false" i="false" u="none" strike="noStrike">
                <a:solidFill>
                  <a:srgbClr val="FFFFFF"/>
                </a:solidFill>
                <a:ea typeface="KOHINanumOTF Light"/>
              </a:rPr>
              <a:t>확장성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7000"/>
          </a:blip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0">
            <a:off x="1244600" y="2171700"/>
            <a:ext cx="4902200" cy="7391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0">
            <a:off x="6692900" y="2171700"/>
            <a:ext cx="4902200" cy="7391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 rot="0">
            <a:off x="12141200" y="2171700"/>
            <a:ext cx="4902200" cy="7391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39900" y="3708400"/>
            <a:ext cx="3898900" cy="16383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39900" y="2870200"/>
            <a:ext cx="39624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400" b="false" i="false" u="none" strike="noStrike">
                <a:solidFill>
                  <a:srgbClr val="CBC2FF"/>
                </a:solidFill>
                <a:latin typeface="KOHINanumOTF Bold"/>
              </a:rPr>
              <a:t>KPI </a:t>
            </a:r>
            <a:r>
              <a:rPr lang="ko-KR" sz="2400" b="false" i="false" u="none" strike="noStrike">
                <a:solidFill>
                  <a:srgbClr val="CBC2FF"/>
                </a:solidFill>
                <a:ea typeface="KOHINanumOTF Bold"/>
              </a:rPr>
              <a:t>핵심성과지표의</a:t>
            </a:r>
            <a:r>
              <a:rPr lang="en-US" sz="2400" b="fals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400" b="false" i="false" u="none" strike="noStrike">
                <a:solidFill>
                  <a:srgbClr val="CBC2FF"/>
                </a:solidFill>
                <a:ea typeface="KOHINanumOTF Bold"/>
              </a:rPr>
              <a:t>개념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39900" y="5740400"/>
            <a:ext cx="3962400" cy="248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조직의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목표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달성도를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측정하는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정량적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지표입니다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성과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측정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기준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목표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대비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진척도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개선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영역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식별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88200" y="3708400"/>
            <a:ext cx="3898900" cy="16383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7188200" y="2870200"/>
            <a:ext cx="39624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CBC2FF"/>
                </a:solidFill>
                <a:ea typeface="KOHINanumOTF Bold"/>
              </a:rPr>
              <a:t>제조업의</a:t>
            </a:r>
            <a:r>
              <a:rPr lang="en-US" sz="2400" b="fals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400" b="false" i="false" u="none" strike="noStrike">
                <a:solidFill>
                  <a:srgbClr val="CBC2FF"/>
                </a:solidFill>
                <a:ea typeface="KOHINanumOTF Bold"/>
              </a:rPr>
              <a:t>주요</a:t>
            </a:r>
            <a:r>
              <a:rPr lang="en-US" sz="2400" b="false" i="false" u="none" strike="noStrike">
                <a:solidFill>
                  <a:srgbClr val="CBC2FF"/>
                </a:solidFill>
                <a:latin typeface="KOHINanumOTF Bold"/>
              </a:rPr>
              <a:t> KPI </a:t>
            </a:r>
            <a:r>
              <a:rPr lang="ko-KR" sz="2400" b="false" i="false" u="none" strike="noStrike">
                <a:solidFill>
                  <a:srgbClr val="CBC2FF"/>
                </a:solidFill>
                <a:ea typeface="KOHINanumOTF Bold"/>
              </a:rPr>
              <a:t>유형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88200" y="5740400"/>
            <a:ext cx="3962400" cy="207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생산량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및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가동률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불량률과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품질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지표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납기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준수율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설비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효율성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(OEE)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재고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회전율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alphaModFix amt="96000"/>
          </a:blip>
          <a:stretch>
            <a:fillRect/>
          </a:stretch>
        </p:blipFill>
        <p:spPr>
          <a:xfrm rot="0">
            <a:off x="12636500" y="3708400"/>
            <a:ext cx="3898900" cy="16383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2636500" y="2870200"/>
            <a:ext cx="39624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400" b="false" i="false" u="none" strike="noStrike">
                <a:solidFill>
                  <a:srgbClr val="CBC2FF"/>
                </a:solidFill>
                <a:ea typeface="KOHINanumOTF Bold"/>
              </a:rPr>
              <a:t>실시간</a:t>
            </a:r>
            <a:r>
              <a:rPr lang="en-US" sz="2400" b="false" i="false" u="none" strike="noStrike">
                <a:solidFill>
                  <a:srgbClr val="CBC2FF"/>
                </a:solidFill>
                <a:latin typeface="KOHINanumOTF Bold"/>
              </a:rPr>
              <a:t> KPI </a:t>
            </a:r>
            <a:r>
              <a:rPr lang="ko-KR" sz="2400" b="false" i="false" u="none" strike="noStrike">
                <a:solidFill>
                  <a:srgbClr val="CBC2FF"/>
                </a:solidFill>
                <a:ea typeface="KOHINanumOTF Bold"/>
              </a:rPr>
              <a:t>추적의</a:t>
            </a:r>
            <a:r>
              <a:rPr lang="en-US" sz="2400" b="fals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400" b="false" i="false" u="none" strike="noStrike">
                <a:solidFill>
                  <a:srgbClr val="CBC2FF"/>
                </a:solidFill>
                <a:ea typeface="KOHINanumOTF Bold"/>
              </a:rPr>
              <a:t>장점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36500" y="5740400"/>
            <a:ext cx="3962400" cy="2489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즉각적인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문제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파악과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신속한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의사결정이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가능합니다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.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/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이상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징후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조기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발견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데이터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기반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판단</a:t>
            </a:r>
          </a:p>
          <a:p>
            <a:pPr algn="l" lvl="0">
              <a:lnSpc>
                <a:spcPct val="12449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지속적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개선</a:t>
            </a:r>
            <a:r>
              <a:rPr lang="en-US" sz="22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KOHINanumOTF Light"/>
              </a:rPr>
              <a:t>촉진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3900" y="723900"/>
            <a:ext cx="168783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KPI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의</a:t>
            </a: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이해와</a:t>
            </a: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중요성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 rot="0">
            <a:off x="4800600" y="-7023100"/>
            <a:ext cx="26784300" cy="26784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 rot="0">
            <a:off x="8229600" y="-3619500"/>
            <a:ext cx="19977100" cy="19977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alphaModFix amt="65000"/>
          </a:blip>
          <a:stretch>
            <a:fillRect/>
          </a:stretch>
        </p:blipFill>
        <p:spPr>
          <a:xfrm rot="0">
            <a:off x="11569700" y="190500"/>
            <a:ext cx="12344400" cy="12344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>
            <a:alphaModFix amt="65000"/>
          </a:blip>
          <a:stretch>
            <a:fillRect/>
          </a:stretch>
        </p:blipFill>
        <p:spPr>
          <a:xfrm rot="0">
            <a:off x="14884400" y="3416300"/>
            <a:ext cx="5892800" cy="5892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105400" y="4533900"/>
            <a:ext cx="952500" cy="952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509000" y="4533900"/>
            <a:ext cx="9525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823700" y="4521200"/>
            <a:ext cx="952500" cy="95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328900" y="4533900"/>
            <a:ext cx="952500" cy="9525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736600" y="2717800"/>
            <a:ext cx="3873500" cy="1473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KPI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기능</a:t>
            </a: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강화</a:t>
            </a: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전략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95900" y="5499100"/>
            <a:ext cx="2984500" cy="825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400" b="false" i="false" u="none" strike="noStrike">
                <a:solidFill>
                  <a:srgbClr val="FFFFFF"/>
                </a:solidFill>
                <a:ea typeface="KOHINanumOTF Bold"/>
              </a:rPr>
              <a:t>실시간</a:t>
            </a:r>
            <a:r>
              <a:rPr lang="en-US" sz="24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KOHINanumOTF Bold"/>
              </a:rPr>
              <a:t>데이터</a:t>
            </a:r>
            <a:r>
              <a:rPr lang="en-US" sz="24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KOHINanumOTF Bold"/>
              </a:rPr>
              <a:t>수집</a:t>
            </a:r>
            <a:r>
              <a:rPr lang="en-US" sz="24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KOHINanumOTF Bold"/>
              </a:rPr>
              <a:t>및</a:t>
            </a:r>
            <a:r>
              <a:rPr lang="en-US" sz="24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KOHINanumOTF Bold"/>
              </a:rPr>
              <a:t>분석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95900" y="6604000"/>
            <a:ext cx="27813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IoT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센서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연동</a:t>
            </a:r>
          </a:p>
          <a:p>
            <a:pPr algn="l" lvl="0">
              <a:lnSpc>
                <a:spcPct val="1244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자동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데이터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수집</a:t>
            </a:r>
          </a:p>
          <a:p>
            <a:pPr algn="l" lvl="0">
              <a:lnSpc>
                <a:spcPct val="1244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실시간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분석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엔진</a:t>
            </a:r>
          </a:p>
          <a:p>
            <a:pPr algn="l" lvl="0">
              <a:lnSpc>
                <a:spcPct val="1244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예측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알고리즘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99500" y="5499100"/>
            <a:ext cx="2781300" cy="825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400" b="false" i="false" u="none" strike="noStrike">
                <a:solidFill>
                  <a:srgbClr val="FFFFFF"/>
                </a:solidFill>
                <a:ea typeface="KOHINanumOTF Bold"/>
              </a:rPr>
              <a:t>대시보드</a:t>
            </a:r>
            <a:r>
              <a:rPr lang="en-US" sz="24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KOHINanumOTF Bold"/>
              </a:rPr>
              <a:t>및</a:t>
            </a:r>
            <a:r>
              <a:rPr lang="en-US" sz="24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KOHINanumOTF Bold"/>
              </a:rPr>
              <a:t>시각화</a:t>
            </a:r>
            <a:r>
              <a:rPr lang="en-US" sz="24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KOHINanumOTF Bold"/>
              </a:rPr>
              <a:t>개선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39600" y="5499100"/>
            <a:ext cx="2781300" cy="825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400" b="false" i="false" u="none" strike="noStrike">
                <a:solidFill>
                  <a:srgbClr val="FFFFFF"/>
                </a:solidFill>
                <a:ea typeface="KOHINanumOTF Bold"/>
              </a:rPr>
              <a:t>알림</a:t>
            </a:r>
            <a:r>
              <a:rPr lang="en-US" sz="24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KOHINanumOTF Bold"/>
              </a:rPr>
              <a:t>및</a:t>
            </a:r>
            <a:r>
              <a:rPr lang="en-US" sz="24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KOHINanumOTF Bold"/>
              </a:rPr>
              <a:t>예외</a:t>
            </a:r>
            <a:r>
              <a:rPr lang="en-US" sz="24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KOHINanumOTF Bold"/>
              </a:rPr>
              <a:t>처리</a:t>
            </a:r>
            <a:r>
              <a:rPr lang="en-US" sz="24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400" b="false" i="false" u="none" strike="noStrike">
                <a:solidFill>
                  <a:srgbClr val="FFFFFF"/>
                </a:solidFill>
                <a:ea typeface="KOHINanumOTF Bold"/>
              </a:rPr>
              <a:t>시스템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494000" y="5499100"/>
            <a:ext cx="2514600" cy="8255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400" b="false" i="false" u="none" strike="noStrike">
                <a:solidFill>
                  <a:srgbClr val="04041D"/>
                </a:solidFill>
                <a:ea typeface="KOHINanumOTF Bold"/>
              </a:rPr>
              <a:t>사용자</a:t>
            </a:r>
            <a:r>
              <a:rPr lang="en-US" sz="2400" b="false" i="false" u="none" strike="noStrike">
                <a:solidFill>
                  <a:srgbClr val="04041D"/>
                </a:solidFill>
                <a:latin typeface="KOHINanumOTF Bold"/>
              </a:rPr>
              <a:t> </a:t>
            </a:r>
            <a:r>
              <a:rPr lang="ko-KR" sz="2400" b="false" i="false" u="none" strike="noStrike">
                <a:solidFill>
                  <a:srgbClr val="04041D"/>
                </a:solidFill>
                <a:ea typeface="KOHINanumOTF Bold"/>
              </a:rPr>
              <a:t>맞춤형</a:t>
            </a:r>
            <a:r>
              <a:rPr lang="en-US" sz="2400" b="false" i="false" u="none" strike="noStrike">
                <a:solidFill>
                  <a:srgbClr val="04041D"/>
                </a:solidFill>
                <a:latin typeface="KOHINanumOTF Bold"/>
              </a:rPr>
              <a:t> KPI </a:t>
            </a:r>
            <a:r>
              <a:rPr lang="ko-KR" sz="2400" b="false" i="false" u="none" strike="noStrike">
                <a:solidFill>
                  <a:srgbClr val="04041D"/>
                </a:solidFill>
                <a:ea typeface="KOHINanumOTF Bold"/>
              </a:rPr>
              <a:t>설정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94000" y="6604000"/>
            <a:ext cx="2501900" cy="111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000" b="false" i="false" u="none" strike="noStrike">
                <a:solidFill>
                  <a:srgbClr val="04041D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04041D"/>
                </a:solidFill>
                <a:ea typeface="KOHINanumOTF Light"/>
              </a:rPr>
              <a:t>개인별</a:t>
            </a:r>
            <a:r>
              <a:rPr lang="en-US" sz="2000" b="false" i="false" u="none" strike="noStrike">
                <a:solidFill>
                  <a:srgbClr val="04041D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04041D"/>
                </a:solidFill>
                <a:ea typeface="KOHINanumOTF Light"/>
              </a:rPr>
              <a:t>지표</a:t>
            </a:r>
            <a:r>
              <a:rPr lang="en-US" sz="2000" b="false" i="false" u="none" strike="noStrike">
                <a:solidFill>
                  <a:srgbClr val="04041D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04041D"/>
                </a:solidFill>
                <a:ea typeface="KOHINanumOTF Light"/>
              </a:rPr>
              <a:t>구성</a:t>
            </a:r>
          </a:p>
          <a:p>
            <a:pPr algn="l" lvl="0">
              <a:lnSpc>
                <a:spcPct val="124499"/>
              </a:lnSpc>
            </a:pPr>
            <a:r>
              <a:rPr lang="en-US" sz="2000" b="false" i="false" u="none" strike="noStrike">
                <a:solidFill>
                  <a:srgbClr val="04041D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04041D"/>
                </a:solidFill>
                <a:ea typeface="KOHINanumOTF Light"/>
              </a:rPr>
              <a:t>권한별</a:t>
            </a:r>
            <a:r>
              <a:rPr lang="en-US" sz="2000" b="false" i="false" u="none" strike="noStrike">
                <a:solidFill>
                  <a:srgbClr val="04041D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04041D"/>
                </a:solidFill>
                <a:ea typeface="KOHINanumOTF Light"/>
              </a:rPr>
              <a:t>접근</a:t>
            </a:r>
            <a:r>
              <a:rPr lang="en-US" sz="2000" b="false" i="false" u="none" strike="noStrike">
                <a:solidFill>
                  <a:srgbClr val="04041D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04041D"/>
                </a:solidFill>
                <a:ea typeface="KOHINanumOTF Light"/>
              </a:rPr>
              <a:t>제어</a:t>
            </a:r>
          </a:p>
          <a:p>
            <a:pPr algn="l" lvl="0">
              <a:lnSpc>
                <a:spcPct val="124499"/>
              </a:lnSpc>
            </a:pPr>
            <a:r>
              <a:rPr lang="en-US" sz="2000" b="false" i="false" u="none" strike="noStrike">
                <a:solidFill>
                  <a:srgbClr val="04041D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04041D"/>
                </a:solidFill>
                <a:ea typeface="KOHINanumOTF Light"/>
              </a:rPr>
              <a:t>유연한</a:t>
            </a:r>
            <a:r>
              <a:rPr lang="en-US" sz="2000" b="false" i="false" u="none" strike="noStrike">
                <a:solidFill>
                  <a:srgbClr val="04041D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04041D"/>
                </a:solidFill>
                <a:ea typeface="KOHINanumOTF Light"/>
              </a:rPr>
              <a:t>설정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6600" y="4635500"/>
            <a:ext cx="3835400" cy="2387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효과적인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KPI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관리를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위해서는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정확한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데이터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수집과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신속한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분석이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필수적입니다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.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실시간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모니터링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체계를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구축하여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생산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현장의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모든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정보를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즉시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파악하고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대응할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수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있습니다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99500" y="6604000"/>
            <a:ext cx="27813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직관적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UI/UX</a:t>
            </a:r>
          </a:p>
          <a:p>
            <a:pPr algn="l" lvl="0">
              <a:lnSpc>
                <a:spcPct val="1244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맞춤형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대시보드</a:t>
            </a:r>
          </a:p>
          <a:p>
            <a:pPr algn="l" lvl="0">
              <a:lnSpc>
                <a:spcPct val="1244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다양한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차트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제공</a:t>
            </a:r>
          </a:p>
          <a:p>
            <a:pPr algn="l" lvl="0">
              <a:lnSpc>
                <a:spcPct val="1244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모바일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최적화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39600" y="6604000"/>
            <a:ext cx="27813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임계값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설정</a:t>
            </a:r>
          </a:p>
          <a:p>
            <a:pPr algn="l" lvl="0">
              <a:lnSpc>
                <a:spcPct val="1244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자동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알림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발송</a:t>
            </a:r>
          </a:p>
          <a:p>
            <a:pPr algn="l" lvl="0">
              <a:lnSpc>
                <a:spcPct val="1244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우선순위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관리</a:t>
            </a:r>
          </a:p>
          <a:p>
            <a:pPr algn="l" lvl="0">
              <a:lnSpc>
                <a:spcPct val="1244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이력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추적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8369300" y="1358900"/>
            <a:ext cx="8496300" cy="84963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18000"/>
          </a:blip>
          <a:stretch>
            <a:fillRect/>
          </a:stretch>
        </p:blipFill>
        <p:spPr>
          <a:xfrm rot="0">
            <a:off x="8877300" y="1879600"/>
            <a:ext cx="7467600" cy="74676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 rot="0">
            <a:off x="10668000" y="1905000"/>
            <a:ext cx="3898900" cy="3898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alphaModFix amt="80000"/>
          </a:blip>
          <a:stretch>
            <a:fillRect/>
          </a:stretch>
        </p:blipFill>
        <p:spPr>
          <a:xfrm rot="0">
            <a:off x="9131300" y="4597400"/>
            <a:ext cx="3898900" cy="3898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 rot="0">
            <a:off x="12204700" y="4597400"/>
            <a:ext cx="3898900" cy="3898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515600" y="5778500"/>
            <a:ext cx="635000" cy="635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06300" y="2387600"/>
            <a:ext cx="622300" cy="6223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135100" y="5803900"/>
            <a:ext cx="571500" cy="5715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9512300" y="6718300"/>
            <a:ext cx="26416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600" b="false" i="false" u="none" strike="noStrike">
                <a:solidFill>
                  <a:srgbClr val="FFFFFF"/>
                </a:solidFill>
                <a:ea typeface="KOHINanumOTF Bold"/>
              </a:rPr>
              <a:t>프론트엔드</a:t>
            </a:r>
            <a:r>
              <a:rPr lang="en-US" sz="26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600" b="false" i="false" u="none" strike="noStrike">
                <a:solidFill>
                  <a:srgbClr val="FFFFFF"/>
                </a:solidFill>
                <a:ea typeface="KOHINanumOTF Bold"/>
              </a:rPr>
              <a:t>기술</a:t>
            </a:r>
            <a:r>
              <a:rPr lang="en-US" sz="26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600" b="false" i="false" u="none" strike="noStrike">
                <a:solidFill>
                  <a:srgbClr val="FFFFFF"/>
                </a:solidFill>
                <a:ea typeface="KOHINanumOTF Bold"/>
              </a:rPr>
              <a:t>스택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12500" y="3200400"/>
            <a:ext cx="3022600" cy="457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600" b="false" i="false" u="none" strike="noStrike">
                <a:solidFill>
                  <a:srgbClr val="FFFFFF"/>
                </a:solidFill>
                <a:ea typeface="KOHINanumOTF Bold"/>
              </a:rPr>
              <a:t>웹</a:t>
            </a:r>
            <a:r>
              <a:rPr lang="en-US" sz="26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600" b="false" i="false" u="none" strike="noStrike">
                <a:solidFill>
                  <a:srgbClr val="FFFFFF"/>
                </a:solidFill>
                <a:ea typeface="KOHINanumOTF Bold"/>
              </a:rPr>
              <a:t>기반</a:t>
            </a:r>
            <a:r>
              <a:rPr lang="en-US" sz="2600" b="false" i="false" u="none" strike="noStrike">
                <a:solidFill>
                  <a:srgbClr val="FFFFFF"/>
                </a:solidFill>
                <a:latin typeface="KOHINanumOTF Bold"/>
              </a:rPr>
              <a:t> MES</a:t>
            </a:r>
            <a:r>
              <a:rPr lang="ko-KR" sz="2600" b="false" i="false" u="none" strike="noStrike">
                <a:solidFill>
                  <a:srgbClr val="FFFFFF"/>
                </a:solidFill>
                <a:ea typeface="KOHINanumOTF Bold"/>
              </a:rPr>
              <a:t>의</a:t>
            </a:r>
            <a:r>
              <a:rPr lang="en-US" sz="26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600" b="false" i="false" u="none" strike="noStrike">
                <a:solidFill>
                  <a:srgbClr val="FFFFFF"/>
                </a:solidFill>
                <a:ea typeface="KOHINanumOTF Bold"/>
              </a:rPr>
              <a:t>장점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6600" y="1384300"/>
            <a:ext cx="713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웹</a:t>
            </a: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프로그래밍</a:t>
            </a: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기술</a:t>
            </a: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적용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93700" y="6718300"/>
            <a:ext cx="2641600" cy="889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600" b="false" i="false" u="none" strike="noStrike">
                <a:solidFill>
                  <a:srgbClr val="FFFFFF"/>
                </a:solidFill>
                <a:ea typeface="KOHINanumOTF Bold"/>
              </a:rPr>
              <a:t>백엔드</a:t>
            </a:r>
            <a:r>
              <a:rPr lang="en-US" sz="26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600" b="false" i="false" u="none" strike="noStrike">
                <a:solidFill>
                  <a:srgbClr val="FFFFFF"/>
                </a:solidFill>
                <a:ea typeface="KOHINanumOTF Bold"/>
              </a:rPr>
              <a:t>및</a:t>
            </a:r>
            <a:r>
              <a:rPr lang="en-US" sz="2600" b="false" i="false" u="none" strike="noStrike">
                <a:solidFill>
                  <a:srgbClr val="FFFFFF"/>
                </a:solidFill>
                <a:latin typeface="KOHINanumOTF Bold"/>
              </a:rPr>
              <a:t> </a:t>
            </a:r>
            <a:r>
              <a:rPr lang="ko-KR" sz="2600" b="false" i="false" u="none" strike="noStrike">
                <a:solidFill>
                  <a:srgbClr val="FFFFFF"/>
                </a:solidFill>
                <a:ea typeface="KOHINanumOTF Bold"/>
              </a:rPr>
              <a:t>데이터베이스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6600" y="3543300"/>
            <a:ext cx="15367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300" b="true" i="false" u="none" strike="noStrike">
                <a:solidFill>
                  <a:srgbClr val="CBC2FF"/>
                </a:solidFill>
                <a:latin typeface="KOHINanumOTF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6600" y="4127500"/>
            <a:ext cx="7086600" cy="134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언제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어디서나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접근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가능한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크로스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플랫폼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환경을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제공합니다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.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설치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불필요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,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브라우저만으로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사용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가능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실시간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업데이트와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유지보수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용이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6600" y="5537200"/>
            <a:ext cx="15367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300" b="true" i="false" u="none" strike="noStrike">
                <a:solidFill>
                  <a:srgbClr val="CBC2FF"/>
                </a:solidFill>
                <a:latin typeface="KOHINanumOTF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6600" y="6134100"/>
            <a:ext cx="7429500" cy="134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Java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언어를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기반으로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확장성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크고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현대적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프레임워크를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활용합니다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.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반응형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UI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구현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컴포넌트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기반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개발로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재사용성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향상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6600" y="7543800"/>
            <a:ext cx="1536700" cy="40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300" b="true" i="false" u="none" strike="noStrike">
                <a:solidFill>
                  <a:srgbClr val="CBC2FF"/>
                </a:solidFill>
                <a:latin typeface="KOHINanumOTF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36600" y="8128000"/>
            <a:ext cx="7086600" cy="134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Apache Tomcat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으로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안정적인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서버를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구축합니다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.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/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RESTful API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설계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실시간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데이터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처리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및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보안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강화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054100" y="2146300"/>
            <a:ext cx="2882900" cy="2794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381500" y="2146300"/>
            <a:ext cx="2882900" cy="279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696200" y="2146300"/>
            <a:ext cx="2882900" cy="2794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023600" y="2146300"/>
            <a:ext cx="2882900" cy="2794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351000" y="2146300"/>
            <a:ext cx="2882900" cy="2794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723900" y="723900"/>
            <a:ext cx="168783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구현</a:t>
            </a: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사례</a:t>
            </a: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및</a:t>
            </a: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기대</a:t>
            </a: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효과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4100" y="5194300"/>
            <a:ext cx="2946400" cy="7620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300" b="false" i="false" u="none" strike="noStrike">
                <a:solidFill>
                  <a:srgbClr val="CBC2FF"/>
                </a:solidFill>
                <a:latin typeface="KOHINanumOTF Bold"/>
              </a:rPr>
              <a:t>KPI </a:t>
            </a: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강화</a:t>
            </a:r>
            <a:r>
              <a:rPr lang="en-US" sz="2300" b="false" i="false" u="none" strike="noStrike">
                <a:solidFill>
                  <a:srgbClr val="CBC2FF"/>
                </a:solidFill>
                <a:latin typeface="KOHINanumOTF Bold"/>
              </a:rPr>
              <a:t> MES </a:t>
            </a: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구현</a:t>
            </a:r>
            <a:r>
              <a:rPr lang="en-US" sz="2300" b="fals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프로세스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4100" y="6235700"/>
            <a:ext cx="2933700" cy="167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요구사항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분석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및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설계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KPI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지표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정의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웹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기반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시스템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개발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테스트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및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배포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사용자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교육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81500" y="5549900"/>
            <a:ext cx="2946400" cy="406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실제</a:t>
            </a:r>
            <a:r>
              <a:rPr lang="en-US" sz="2300" b="fals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적용</a:t>
            </a:r>
            <a:r>
              <a:rPr lang="en-US" sz="2300" b="fals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사례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81500" y="6235700"/>
            <a:ext cx="2933700" cy="1676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자동차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부품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제조사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A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사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실시간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생산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모니터링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구현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불량률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20%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감소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납기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준수율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향상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96200" y="5194300"/>
            <a:ext cx="2946400" cy="7620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생산성</a:t>
            </a:r>
            <a:r>
              <a:rPr lang="en-US" sz="2300" b="fals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향상</a:t>
            </a:r>
            <a:r>
              <a:rPr lang="en-US" sz="2300" b="fals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및</a:t>
            </a:r>
            <a:r>
              <a:rPr lang="en-US" sz="2300" b="fals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비용</a:t>
            </a:r>
            <a:r>
              <a:rPr lang="en-US" sz="2300" b="fals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절감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96200" y="6235700"/>
            <a:ext cx="2933700" cy="134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작업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효율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30%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개선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재고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관리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최적화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에너지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비용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15%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절감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인력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운영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효율화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023600" y="5549900"/>
            <a:ext cx="2946400" cy="406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의사결정</a:t>
            </a:r>
            <a:r>
              <a:rPr lang="en-US" sz="2300" b="fals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지원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023600" y="6235700"/>
            <a:ext cx="2933700" cy="134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실시간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데이터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기반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판단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병목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구간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즉시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파악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예측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분석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기능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경영진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리포트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자동화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51000" y="5549900"/>
            <a:ext cx="2946400" cy="4064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품질</a:t>
            </a:r>
            <a:r>
              <a:rPr lang="en-US" sz="2300" b="fals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개선</a:t>
            </a:r>
            <a:r>
              <a:rPr lang="en-US" sz="2300" b="false" i="false" u="none" strike="noStrike">
                <a:solidFill>
                  <a:srgbClr val="CBC2FF"/>
                </a:solidFill>
                <a:latin typeface="KOHINanumOTF Bold"/>
              </a:rPr>
              <a:t> </a:t>
            </a:r>
            <a:r>
              <a:rPr lang="ko-KR" sz="2300" b="false" i="false" u="none" strike="noStrike">
                <a:solidFill>
                  <a:srgbClr val="CBC2FF"/>
                </a:solidFill>
                <a:ea typeface="KOHINanumOTF Bold"/>
              </a:rPr>
              <a:t>효과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51000" y="6235700"/>
            <a:ext cx="2933700" cy="134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불량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조기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감지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시스템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품질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추적성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강화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공정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표준화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달성</a:t>
            </a:r>
          </a:p>
          <a:p>
            <a:pPr algn="l" lvl="0">
              <a:lnSpc>
                <a:spcPct val="107899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-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고객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만족도</a:t>
            </a:r>
            <a:r>
              <a:rPr lang="en-US" sz="20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000" b="false" i="false" u="none" strike="noStrike">
                <a:solidFill>
                  <a:srgbClr val="FFFFFF"/>
                </a:solidFill>
                <a:ea typeface="KOHINanumOTF Light"/>
              </a:rPr>
              <a:t>증대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6000"/>
          </a:blip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 rot="0">
            <a:off x="1816100" y="2959100"/>
            <a:ext cx="14693900" cy="660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057900" y="2628900"/>
            <a:ext cx="6172200" cy="647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11633200" y="2730500"/>
            <a:ext cx="431800" cy="4318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451100" y="3860800"/>
            <a:ext cx="13385800" cy="5016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KPI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기능을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강화한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MES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웹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프로그래밍은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제조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현장의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디지털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전환을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가속화하는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핵심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솔루션입니다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.</a:t>
            </a:r>
          </a:p>
          <a:p>
            <a:pPr algn="ctr" lvl="0">
              <a:lnSpc>
                <a:spcPct val="132800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/>
            </a:r>
          </a:p>
          <a:p>
            <a:pPr algn="ctr" lvl="0">
              <a:lnSpc>
                <a:spcPct val="132800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실시간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데이터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수집과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분석을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통해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생산성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향상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,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비용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절감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,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품질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개선이라는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가시적인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성과를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창출할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수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있습니다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.</a:t>
            </a:r>
          </a:p>
          <a:p>
            <a:pPr algn="ctr" lvl="0">
              <a:lnSpc>
                <a:spcPct val="132800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/>
            </a:r>
          </a:p>
          <a:p>
            <a:pPr algn="ctr" lvl="0">
              <a:lnSpc>
                <a:spcPct val="132800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향후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AI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기반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예측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분석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, IoT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센서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통합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,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클라우드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확장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등을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통해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더욱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진화된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스마트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팩토리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구현이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가능할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것입니다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.</a:t>
            </a:r>
          </a:p>
          <a:p>
            <a:pPr algn="ctr" lvl="0">
              <a:lnSpc>
                <a:spcPct val="132800"/>
              </a:lnSpc>
            </a:pP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/>
            </a:r>
          </a:p>
          <a:p>
            <a:pPr algn="ctr" lvl="0">
              <a:lnSpc>
                <a:spcPct val="132800"/>
              </a:lnSpc>
            </a:pP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디지털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전환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시대에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MES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는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단순한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생산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관리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도구를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넘어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경쟁력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확보를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위한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필수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인프라로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자리매김하고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 </a:t>
            </a:r>
            <a:r>
              <a:rPr lang="ko-KR" sz="2500" b="false" i="false" u="none" strike="noStrike">
                <a:solidFill>
                  <a:srgbClr val="FFFFFF"/>
                </a:solidFill>
                <a:ea typeface="KOHINanumOTF Light"/>
              </a:rPr>
              <a:t>있습니다</a:t>
            </a:r>
            <a:r>
              <a:rPr lang="en-US" sz="2500" b="false" i="false" u="none" strike="noStrike">
                <a:solidFill>
                  <a:srgbClr val="FFFFFF"/>
                </a:solidFill>
                <a:latin typeface="KOHINanumOTF Light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3900" y="1181100"/>
            <a:ext cx="168783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결론</a:t>
            </a: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및</a:t>
            </a:r>
            <a:r>
              <a:rPr lang="en-US" sz="4000" b="false" i="false" u="none" strike="noStrike">
                <a:solidFill>
                  <a:srgbClr val="8675E8"/>
                </a:solidFill>
                <a:latin typeface="KOHINanumOTF Bold"/>
              </a:rPr>
              <a:t> </a:t>
            </a:r>
            <a:r>
              <a:rPr lang="ko-KR" sz="4000" b="false" i="false" u="none" strike="noStrike">
                <a:solidFill>
                  <a:srgbClr val="8675E8"/>
                </a:solidFill>
                <a:ea typeface="KOHINanumOTF Bold"/>
              </a:rPr>
              <a:t>마무리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